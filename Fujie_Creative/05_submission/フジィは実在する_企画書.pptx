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表紙。結論を先に置く：フジィは想像上のキャラクターではなく、フジキンが実際に育てている魚である。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物語に「重さ」を与えるスライド。キャビアの話を、食の話から保全の話へ引き上げる。統合報告書・サステナビリティ部門にも共有できる論点になる。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キャラクターの最大の弱点（サメに見える）を、そのまま最大の入口に変える。フジキン自身のサイトが根拠。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チョウザメの特徴（銀色のボディ、長い吻、背中の硬鱗、4本のひげ、大きな黒い目）はすべて継承。ひれのみで、脚はありません。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2027 年という締切を置くことで、この企画は「いつかやる案」ではなく「来年度の計画」になる。第 1 期の制作物は本エントリーにすべて添付済み。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image" Target="../media/image-17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image" Target="../media/image-18-3.jpg"/><Relationship Id="rId4" Type="http://schemas.openxmlformats.org/officeDocument/2006/relationships/image" Target="../media/image-18-4.jpg"/><Relationship Id="rId5" Type="http://schemas.openxmlformats.org/officeDocument/2006/relationships/image" Target="../media/image-18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image" Target="../media/image-19-3.jpg"/><Relationship Id="rId4" Type="http://schemas.openxmlformats.org/officeDocument/2006/relationships/image" Target="../media/image-19-4.jpg"/><Relationship Id="rId5" Type="http://schemas.openxmlformats.org/officeDocument/2006/relationships/image" Target="../media/image-19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image" Target="../media/image-20-3.jpg"/><Relationship Id="rId4" Type="http://schemas.openxmlformats.org/officeDocument/2006/relationships/image" Target="../media/image-20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Fuji_Famous/Fujie_Creative/deck_assets/04_campaign/fujie-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9310" y="2148840"/>
            <a:ext cx="6020741" cy="1828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14173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フジィを有名にする！アイデアコンテスト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1874520"/>
            <a:ext cx="6583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74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フジィは、</a:t>
            </a:r>
            <a:endParaRPr lang="en-US" sz="6000" dirty="0"/>
          </a:p>
          <a:p>
            <a:pPr indent="0" marL="0">
              <a:lnSpc>
                <a:spcPts val="74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実在する。</a:t>
            </a:r>
            <a:endParaRPr lang="en-US" sz="60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4224528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4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世界初の完全養殖ストーリーで、</a:t>
            </a:r>
            <a:endParaRPr lang="en-US" sz="145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4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フジィを「シンボル」から「キャラクター」へ。</a:t>
            </a:r>
            <a:endParaRPr lang="en-US" sz="14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59436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株式会社ブレインパワー　大阪　／　Vittorio Zumpano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問題は「知られていない」ことではない。</a:t>
            </a:r>
            <a:endParaRPr lang="en-US" sz="3400" dirty="0"/>
          </a:p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「語る材料」が表に出ていないことである。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募集要項にはこうあります ——「半導体業界などで高い知名度を誇る企業ですが、一般層にはまだ広く知られていない」。</a:t>
            </a:r>
            <a:endParaRPr lang="en-US" sz="14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しかしフジキンには、一般層がもっとも強く反応する材料が、すでに社内にあります。それがフジィと結びついていないだけです。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3566160"/>
            <a:ext cx="342900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3767328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114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457200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公式Instagram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フォロワー数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5175504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 2,212 億円・従業員 6,742 名の企業として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70832" y="3566160"/>
            <a:ext cx="342900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90872" y="3767328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690872" y="457200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一般消費者向けの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自社商品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4690872" y="5175504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キャビアは飲食店・卸売のみへ販売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055864" y="3566160"/>
            <a:ext cx="342900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75904" y="3767328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40年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8375904" y="457200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語られていない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挑戦の記録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375904" y="5175504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1987 年から続く世界初への道のり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出典：募集概要、フジキン会社概要（2026年3月期）、公式Instagram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診断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フジィは「シンボル」であって、</a:t>
            </a:r>
            <a:endParaRPr lang="en-US" sz="3400" dirty="0"/>
          </a:p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まだ「キャラクター」ではない。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マニュアル第 7 条は正しい。企業シンボルは厳格に守られるべきです。しかしシンボルのままでは、有名にはなれません。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3017520"/>
            <a:ext cx="5257800" cy="3063240"/>
          </a:xfrm>
          <a:prstGeom prst="roundRect">
            <a:avLst>
              <a:gd name="adj" fmla="val 1791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324612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5A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シンボル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67588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いまのフジィ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06908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できる：企業の信頼を示す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できる：製品の品質を象徴する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できる：広告・会社案内で映える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498348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B04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できない：笑うことができない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B04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できない：動くことができない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B04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できない：抱きしめられない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B04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できない：ファンが描けない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17920" y="3017520"/>
            <a:ext cx="5257800" cy="3063240"/>
          </a:xfrm>
          <a:prstGeom prst="roundRect">
            <a:avLst>
              <a:gd name="adj" fmla="val 1791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29400" y="324612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キャラクター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6629400" y="367588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必要なフジィ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629400" y="406908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できる：感情を持つ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できる：日常に入り込む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できる：グッズになれる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できる：人が共有したくなる</a:t>
            </a:r>
            <a:endParaRPr lang="en-US" sz="1150" dirty="0"/>
          </a:p>
        </p:txBody>
      </p:sp>
      <p:pic>
        <p:nvPicPr>
          <p:cNvPr id="14" name="Image 0" descr="D:/Fuji_Famous/Fujie_Creative/deck_assets/01_character/master_v3_wav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0" y="4389120"/>
            <a:ext cx="1600200" cy="1600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Fuji_Famous/Fujie_Creative/deck_assets/04_campaign/stage_4_you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2387397"/>
            <a:ext cx="4754880" cy="199176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137160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この企画の起点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1828800"/>
            <a:ext cx="6400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フジィは、実在する。</a:t>
            </a:r>
            <a:endParaRPr lang="en-US" sz="46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320040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10,000</a:t>
            </a:r>
            <a:endParaRPr lang="en-US" sz="6400" dirty="0"/>
          </a:p>
        </p:txBody>
      </p:sp>
      <p:sp>
        <p:nvSpPr>
          <p:cNvPr id="6" name="Text 3"/>
          <p:cNvSpPr txBox="1"/>
          <p:nvPr/>
        </p:nvSpPr>
        <p:spPr>
          <a:xfrm>
            <a:off x="3246120" y="380390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尾 以上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443484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茨城県常陸太田市・里美養魚場。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フジィは想像上の生きものではありません。フジキンが 40 年かけて、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本当に育ててきた魚です。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Fuji_Famous/Fujie_Creative/15_act2/endangered_wat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250920"/>
            <a:ext cx="4937760" cy="275595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123444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この魚について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178308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フジィは、実在する。</a:t>
            </a:r>
            <a:endParaRPr lang="en-US" sz="26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──そして、絶滅危惧種である。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374904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チョウザメは、IUCN レッドリストで「もっとも絶滅の危機にある生物群」とされています。</a:t>
            </a:r>
            <a:endParaRPr lang="en-US" sz="12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現存する全種が、絶滅危惧種です。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685800" y="4617720"/>
            <a:ext cx="3474720" cy="1417320"/>
          </a:xfrm>
          <a:prstGeom prst="roundRect">
            <a:avLst>
              <a:gd name="adj" fmla="val 3871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60120" y="477316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 億年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5230368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恐竜より古く、ほとんど姿を変えなかった魚。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「進化」を名に持つフジィは、進化する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必要がなかった魚でもあります。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370832" y="4617720"/>
            <a:ext cx="3474720" cy="1417320"/>
          </a:xfrm>
          <a:prstGeom prst="roundRect">
            <a:avLst>
              <a:gd name="adj" fmla="val 3871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645152" y="477316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 種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4645152" y="5230368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現存するチョウザメは、すべて絶滅危惧種。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キャビアのために、世界中で獲られ続けました。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8055864" y="4617720"/>
            <a:ext cx="3474720" cy="1417320"/>
          </a:xfrm>
          <a:prstGeom prst="roundRect">
            <a:avLst>
              <a:gd name="adj" fmla="val 3871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30184" y="477316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1998 年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8330184" y="5230368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完全養殖の成立以降、この魚は水槽の中だけで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世代をつないでいます。川から獲る必要が、ない。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62179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フジキンがつくったのは、珍味ではありません。「もう川から獲らなくていい」という技術です。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物語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バルブメーカーが、日本の国産キャビアを生んだ。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2860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FCF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1987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96265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始まり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346704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最高技術顧問・故 西堀栄三郎先生の一言。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「フジキンのバルブを使って、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チョウザメの養殖を始めてみないか？」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456432" y="22860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FCF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1992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3456432" y="296265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民間初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456432" y="3346704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日本の民間企業として初めて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人工ふ化に成功。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しかし初年度の生残率はわずか 5%。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227064" y="22860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1998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6227064" y="296265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世界初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227064" y="3346704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水槽での完全養殖に成功。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生残率は 60% へ。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卵から育てた魚が、また卵を産んだ。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997696" y="22860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FCF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2002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8997696" y="296265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日本初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997696" y="3346704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日本初のキャビア出荷。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いま国内に流通する国産キャビアの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多くは、ここから広がっている。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5074920"/>
            <a:ext cx="1078992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97280" y="525780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 11 年間こそ、企業ポリシー「極限への挑戦」そのものです。説明する言葉ではなく、実話として語れます。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5623560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そして 2027 年 —— 1987 年から 40 年、2002 年から 25 年。ふたつの節目が重なります。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方針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グッズは配り終わる。</a:t>
            </a:r>
            <a:endParaRPr lang="en-US" sz="3400" dirty="0"/>
          </a:p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物語は、人が人に話す。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9456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募集要項にも「グッズ製作などの枠にとどまらない、幅広い視点のアイデア」とあります。本企画はグッズを否定しません。順序を変えます —— 物語を先に立て、グッズはその受け皿にします。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3200400"/>
            <a:ext cx="1078992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33832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B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従来の順序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383280" y="336499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グッズをつくる　→　配る　→　終わる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3776472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配布数が上限。話題は一度きり。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4663440"/>
            <a:ext cx="1078992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48463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本企画の順序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482803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物語を立てる　→　キャラクターが受け皿になる　→　人が人に話す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5239512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「バルブの会社が日本のキャビアをつくった」は、聞いた人が翌日 誰かに話したくなる強度を持っています。広告費をかけずに伝播する、唯一の資産です。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入口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85800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「サメじゃないです。」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6172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チョウザメは「蝶のサメ」と書くため、ほぼ全員が最初にサメだと思います。フジキンのキャビアサイトにも「サメとの違い」というページがあるほどです。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ならば、誤解を直す努力をやめて、誤解のほうを入口にします。</a:t>
            </a:r>
            <a:endParaRPr lang="en-US" sz="1300" dirty="0"/>
          </a:p>
        </p:txBody>
      </p:sp>
      <p:pic>
        <p:nvPicPr>
          <p:cNvPr id="5" name="Image 0" descr="D:/Fuji_Famous/Fujie_Creative/15_act2/shark_vs_sturgeon_c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1974366"/>
            <a:ext cx="4389120" cy="20863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85800" y="3493008"/>
            <a:ext cx="64922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05840" y="363016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B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サメ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2651760" y="3648456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歯がある／軟骨魚／海／ヒゲなし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85800" y="4169664"/>
            <a:ext cx="64922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05840" y="4306824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チョウザメ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2651760" y="4325112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歯がない／硬骨魚／淡水／ヒゲ 4 本・背中に硬い板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85800" y="4937760"/>
            <a:ext cx="10789920" cy="1097280"/>
          </a:xfrm>
          <a:prstGeom prst="roundRect">
            <a:avLst>
              <a:gd name="adj" fmla="val 5000"/>
            </a:avLst>
          </a:prstGeom>
          <a:solidFill>
            <a:srgbClr val="0B2430"/>
          </a:solidFill>
          <a:ln w="12700">
            <a:solidFill>
              <a:srgbClr val="0B243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97280" y="512064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「サメじゃないです。」　→　「サメより、ずっと少ないんです。」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1097280" y="5559552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冗談で入口を開け、事実で残す。この二行で「チョウザメとは何か」と「なぜ大切か」が同時に伝わります。スタンプもグッズもミニゲームも、すべてここから展開できます。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この一言を発するのは「ちびフジィ」です。公式フジィに文字を重ねることはしません（マニュアル第 7 条）。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全体像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つの施策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71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上から順に実施します。①がなければ②以降は成立しません。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2011680"/>
            <a:ext cx="5257800" cy="1188720"/>
          </a:xfrm>
          <a:prstGeom prst="roundRect">
            <a:avLst>
              <a:gd name="adj" fmla="val 4615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2414016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5840" y="2414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23113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ちびフジィ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261518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表情と親しみを担う第 2 の姿を公式に追加する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2011680"/>
            <a:ext cx="5257800" cy="1188720"/>
          </a:xfrm>
          <a:prstGeom prst="roundRect">
            <a:avLst>
              <a:gd name="adj" fmla="val 4615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2414016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37960" y="2414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086600" y="223113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 スタンプ 128 種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086600" y="261518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友だち追加を条件に無料配布する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85800" y="3401568"/>
            <a:ext cx="5257800" cy="1188720"/>
          </a:xfrm>
          <a:prstGeom prst="roundRect">
            <a:avLst>
              <a:gd name="adj" fmla="val 4615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05840" y="3803904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05840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554480" y="3621024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フジィに「中の人」を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554480" y="40050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誰も見たことのない養魚場の映像を出す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217920" y="3401568"/>
            <a:ext cx="5257800" cy="1188720"/>
          </a:xfrm>
          <a:prstGeom prst="roundRect">
            <a:avLst>
              <a:gd name="adj" fmla="val 4615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37960" y="3803904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37960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086600" y="3621024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ちびフジィの無償開放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086600" y="40050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稚魚取引先のパッケージを広告に変える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85800" y="4791456"/>
            <a:ext cx="5257800" cy="1188720"/>
          </a:xfrm>
          <a:prstGeom prst="roundRect">
            <a:avLst>
              <a:gd name="adj" fmla="val 4615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5840" y="519379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05840" y="5193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554480" y="501091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会いに行けるマスコット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1554480" y="53949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里美養魚場を限定公開する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217920" y="4791456"/>
            <a:ext cx="5257800" cy="1188720"/>
          </a:xfrm>
          <a:prstGeom prst="roundRect">
            <a:avLst>
              <a:gd name="adj" fmla="val 4615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537960" y="519379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537960" y="5193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7086600" y="501091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1987 年の物語を映像化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7086600" y="53949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ロケ地はすべて自社保有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ちびフジィ ―― 表情を持つ、第 2 の姿。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0312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現行マニュアルの規定は一切変更しません。従来のフジィは企業シンボルとして厳格に保護したまま、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公の場で人と接するための姿を新たに追加します。</a:t>
            </a:r>
            <a:endParaRPr lang="en-US" sz="1400" dirty="0"/>
          </a:p>
        </p:txBody>
      </p:sp>
      <p:pic>
        <p:nvPicPr>
          <p:cNvPr id="5" name="Image 0" descr="D:/Fuji_Famous/Fujie_Creative/deck_assets/01_character/master_v3_wav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880360"/>
            <a:ext cx="3017520" cy="3017520"/>
          </a:xfrm>
          <a:prstGeom prst="rect">
            <a:avLst/>
          </a:prstGeom>
        </p:spPr>
      </p:pic>
      <p:pic>
        <p:nvPicPr>
          <p:cNvPr id="6" name="Image 1" descr="D:/Fuji_Famous/Fujie_Creative/deck_assets/01_character/master_expression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0319" y="2880360"/>
            <a:ext cx="4041321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1 ―― マニュアルとの関係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7 条は、破りません。足します。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286000"/>
            <a:ext cx="5257800" cy="356616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256032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従来のフジィ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301752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企業シンボル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474720"/>
            <a:ext cx="4480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会社案内・広告・名刺・製品資料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マニュアル ver1.0 の規定どおり、変形・色変更・透過・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文字の重ね・デザイン変更・要素の追加削除は一切行いません。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17920" y="2286000"/>
            <a:ext cx="5257800" cy="356616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25400">
            <a:solidFill>
              <a:srgbClr val="00A0E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29400" y="256032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ちびフジィ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629400" y="301752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パブリック・キャラクター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3474720"/>
            <a:ext cx="4480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SNS・スタンプ・グッズ・イベント・地域連携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マニュアル ver2.0 として新たに規定を設け、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表情差分や利用ルールを整備します。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シンボルは守り、キャラクターは育てる。両立させるための提案です。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 スタンプ 128 種を、無料配布する。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03120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でもっとも費用対効果の高い認知獲得手段です。スタンプは「友人が」「私的な会話の中で」「自発的に」送るため、広告では決して到達できない場所に届きます。一度制作すれば、送信されるたびに露出が続きます。</a:t>
            </a:r>
            <a:endParaRPr lang="en-US" sz="1350" dirty="0"/>
          </a:p>
        </p:txBody>
      </p:sp>
      <p:pic>
        <p:nvPicPr>
          <p:cNvPr id="5" name="Image 0" descr="D:/Fuji_Famous/Fujie_Creative/deck_assets/02_stickers/sticker_board_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7322" y="2926080"/>
            <a:ext cx="2508796" cy="3108960"/>
          </a:xfrm>
          <a:prstGeom prst="rect">
            <a:avLst/>
          </a:prstGeom>
        </p:spPr>
      </p:pic>
      <p:pic>
        <p:nvPicPr>
          <p:cNvPr id="6" name="Image 1" descr="D:/Fuji_Famous/Fujie_Creative/deck_assets/02_stickers/sticker_board_0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322" y="2926080"/>
            <a:ext cx="2508796" cy="31089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726680" y="2926080"/>
            <a:ext cx="3749040" cy="3108960"/>
          </a:xfrm>
          <a:prstGeom prst="roundRect">
            <a:avLst>
              <a:gd name="adj" fmla="val 1765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092440" y="32004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すでに制作済みです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8092440" y="3703320"/>
            <a:ext cx="3017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日常語 40 種：おはよう／ありがとう／おつかれさま ほか</a:t>
            </a:r>
            <a:endParaRPr lang="en-US" sz="10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動きのある 24 種：ながれにのれ／ロケット／ハイタッチ ほか</a:t>
            </a:r>
            <a:endParaRPr lang="en-US" sz="10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英語 64 種：海外拠点・WhatsApp にもそのまま使えます</a:t>
            </a:r>
            <a:endParaRPr lang="en-US" sz="10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一番手は「サメじゃないです」。この一言が会話を始めます</a:t>
            </a:r>
            <a:endParaRPr lang="en-US" sz="10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配布条件：公式アカウント友だち追加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フジィに「中の人」を。</a:t>
            </a:r>
            <a:endParaRPr lang="en-US" sz="3400" dirty="0"/>
          </a:p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114 フォロワーは弱点ではなく、余白です。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3317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誰も見たことのない映像を、フジキンだけが持っています。制作費はほぼかかりません。すでに社内にある光景です。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" y="3063240"/>
            <a:ext cx="5257800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33272" y="350215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33272" y="3502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600200" y="3300984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万尾の給餌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368503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水面が一斉に沸き立つ数十秒。説明不要で強い映像です。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17920" y="3063240"/>
            <a:ext cx="5257800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65392" y="350215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65392" y="3502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0" y="3300984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ふ化の瞬間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32320" y="368503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卵から出てくる一尾。40 年の研究の核心が数秒で伝わります。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85800" y="4526280"/>
            <a:ext cx="5257800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33272" y="496519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33272" y="4965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4764024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夜明けの養魚場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1600200" y="514807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静かな水面と作業の始まり。企業の日常が、そのまま物語になります。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17920" y="4526280"/>
            <a:ext cx="5257800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65392" y="496519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65392" y="4965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132320" y="4764024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雌雄判別の技術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7132320" y="514807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フジキンが確立した専門ノウハウ。技術系メディアが反応します。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4 ―― 他社に真似できない施策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取引先のパッケージを、そのまま広告に変える。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キンはチョウザメの稚魚を全国の養殖業者へ販売しています。その取引先にちびフジィを無償開放すれば、日本中の国産キャビア生産者の商品に、フジィが載ります。追加費用はかからず、既存の取引網だけで成立し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" y="3200400"/>
            <a:ext cx="251460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3456432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フジキン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895344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稚魚を販売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（既存事業）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3227832" y="3794760"/>
            <a:ext cx="347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3575304" y="3200400"/>
            <a:ext cx="251460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03904" y="3456432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全国の養殖業者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803904" y="3895344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ちびフジィを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無償で使用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117336" y="3794760"/>
            <a:ext cx="347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464808" y="3200400"/>
            <a:ext cx="251460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93408" y="3456432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国産キャビア商品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693408" y="3895344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パッケージに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フジィが載る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9006840" y="3794760"/>
            <a:ext cx="347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9354312" y="3200400"/>
            <a:ext cx="2514600" cy="1600200"/>
          </a:xfrm>
          <a:prstGeom prst="roundRect">
            <a:avLst>
              <a:gd name="adj" fmla="val 3429"/>
            </a:avLst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582912" y="3456432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一般消費者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9582912" y="3895344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F6F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食卓でフジィと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F6F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出会う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85800" y="5074920"/>
            <a:ext cx="1078992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97280" y="532180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BtoB 企業が BtoC に到達する、現実的で低コストな経路です。フジキン以外の企業には、この取引網がありません。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日本で唯一、「餌やりができる」企業マスコットへ。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6858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里美養魚場（茨城県常陸太田市）の限定公開。1 万尾の本物のフジィに会える場所をつくります。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茨城県は「霞ヶ浦キャビア」で国内一の産地を目指しており、県・自治体・地元メディアを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無償の拡散チャネルとして活用できます。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3950208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52728" y="39319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小学校・自治体との連携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252728" y="420624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地元の社会科見学・食育プログラムとして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85800" y="4681728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4681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52728" y="46634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採用広報への転用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252728" y="493776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学生が「極限への挑戦」を体験として理解する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85800" y="5413248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5413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52728" y="53949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メディアの取材動線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252728" y="56692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テレビ・新聞が撮りたくなる絵がある</a:t>
            </a:r>
            <a:endParaRPr lang="en-US" sz="1050" dirty="0"/>
          </a:p>
        </p:txBody>
      </p:sp>
      <p:pic>
        <p:nvPicPr>
          <p:cNvPr id="17" name="Image 0" descr="D:/Fuji_Famous/Fujie_Creative/deck_assets/04_campaign/stage_3_f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7791" y="2377440"/>
            <a:ext cx="3449698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1987 年の物語を、映像化する。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6304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ロケ地はすべて自社保有。制作費以外の追加投資を必要としません。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2194560"/>
            <a:ext cx="3429000" cy="3200400"/>
          </a:xfrm>
          <a:prstGeom prst="roundRect">
            <a:avLst>
              <a:gd name="adj" fmla="val 1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51460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31089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旧ソ連視察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611880"/>
            <a:ext cx="2743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ボルガ川を行く船の上で、はじめて口にしたフレッシュキャビア。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なぜ世界三大珍味なのかを、舌で理解した瞬間。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70832" y="2194560"/>
            <a:ext cx="3429000" cy="3200400"/>
          </a:xfrm>
          <a:prstGeom prst="roundRect">
            <a:avLst>
              <a:gd name="adj" fmla="val 1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36592" y="251460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736592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736592" y="31089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生残率 5%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4736592" y="3611880"/>
            <a:ext cx="2743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 尾のうち 95 尾が育たなかった初年度。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この数字こそ、物語の芯になります。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055864" y="2194560"/>
            <a:ext cx="3429000" cy="3200400"/>
          </a:xfrm>
          <a:prstGeom prst="roundRect">
            <a:avLst>
              <a:gd name="adj" fmla="val 1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21624" y="251460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21624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421624" y="31089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世界初への 11 年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421624" y="3611880"/>
            <a:ext cx="2743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1987 年の一言から 1998 年の完全養殖まで。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企業ポリシー「極限への挑戦」の、最も具体的な証拠。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E68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短尺縦型（SNS）と長尺（会社案内・採用）の 2 形態で展開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受け皿となるグッズ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ぬいぐるみは、3 サイズで「成長」を見せる。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0312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稚魚・幼魚・成魚。フジキンが世界で初めて成功させた「完全養殖」＝ 一生をまるごと育てる技術が、そのまま商品ラインになります。グッズが物語を説明してくれます。</a:t>
            </a:r>
            <a:endParaRPr lang="en-US" sz="1350" dirty="0"/>
          </a:p>
        </p:txBody>
      </p:sp>
      <p:pic>
        <p:nvPicPr>
          <p:cNvPr id="5" name="Image 0" descr="D:/Fuji_Famous/Fujie_Creative/deck_assets/03_plushie/plush_size_lineu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0165" y="2880360"/>
            <a:ext cx="5406390" cy="3017520"/>
          </a:xfrm>
          <a:prstGeom prst="rect">
            <a:avLst/>
          </a:prstGeom>
        </p:spPr>
      </p:pic>
      <p:pic>
        <p:nvPicPr>
          <p:cNvPr id="6" name="Image 1" descr="D:/Fuji_Famous/Fujie_Creative/deck_assets/03_plushie/plush_keychain_lifestyl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3163383"/>
            <a:ext cx="1828800" cy="2451475"/>
          </a:xfrm>
          <a:prstGeom prst="rect">
            <a:avLst/>
          </a:prstGeom>
        </p:spPr>
      </p:pic>
      <p:pic>
        <p:nvPicPr>
          <p:cNvPr id="7" name="Image 2" descr="D:/Fuji_Famous/Fujie_Creative/deck_assets/03_plushie/plush_studio_front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0" y="3451860"/>
            <a:ext cx="1874520" cy="18745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10cm キーホルダー／25cm／50cm。いちばん小さい 10cm がいちばん安く、鞄に下がって毎日人目に触れます。いずれも試作イメージです。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受け皿となるグッズ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一匹の魚から、五つの棚。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05740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同じ一匹から、客層のちがう棚をつくります。子どもの棚、贈答の棚、旅の棚、文様の棚、工芸の棚。公式原画を使う棚では、マニュアル第 7 条のとおり原画に一切手を入れていません。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880360"/>
            <a:ext cx="2011680" cy="306324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6" name="Image 0" descr="D:/Fuji_Famous/Fujie_Creative/deck_assets/07_merch_chibi/gacha_capsule_se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3398697"/>
            <a:ext cx="1828800" cy="102072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5528" y="4983480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ちびフジィ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40664" y="5321808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見学者センターとガチャ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2852928" y="2880360"/>
            <a:ext cx="2011680" cy="306324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0" name="Image 1" descr="D:/Fuji_Famous/Fujie_Creative/deck_assets/12_merch_official_2/official_gift_se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4368" y="3226308"/>
            <a:ext cx="1828800" cy="136550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962656" y="4983480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公式ライン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2907792" y="5321808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贈答と式典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5020056" y="2880360"/>
            <a:ext cx="2011680" cy="306324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4" name="Image 2" descr="D:/Fuji_Famous/Fujie_Creative/deck_assets/09_merch_maison/maison_tot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1496" y="3226308"/>
            <a:ext cx="1828800" cy="136550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129784" y="4983480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Maison Fujie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5074920" y="5321808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革と帆布</a:t>
            </a:r>
            <a:endParaRPr 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7187184" y="2880360"/>
            <a:ext cx="2011680" cy="306324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8" name="Image 3" descr="D:/Fuji_Famous/Fujie_Creative/deck_assets/13_merch_wamon/wamon_shop_table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78624" y="3398697"/>
            <a:ext cx="1828800" cy="102072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296912" y="4983480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和紋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7242048" y="5321808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文様を持ちあるく</a:t>
            </a:r>
            <a:endParaRPr lang="en-US" sz="950" dirty="0"/>
          </a:p>
        </p:txBody>
      </p:sp>
      <p:sp>
        <p:nvSpPr>
          <p:cNvPr id="21" name="Shape 15"/>
          <p:cNvSpPr/>
          <p:nvPr/>
        </p:nvSpPr>
        <p:spPr>
          <a:xfrm>
            <a:off x="9354312" y="2880360"/>
            <a:ext cx="2011680" cy="306324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22" name="Image 4" descr="D:/Fuji_Famous/Fujie_Creative/deck_assets/10_merch_wa/wa_ukiyoe_wave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5752" y="3226308"/>
            <a:ext cx="1828800" cy="136550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464040" y="4983480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和</a:t>
            </a:r>
            <a:endParaRPr lang="en-US" sz="1300" dirty="0"/>
          </a:p>
        </p:txBody>
      </p:sp>
      <p:sp>
        <p:nvSpPr>
          <p:cNvPr id="24" name="Text 17"/>
          <p:cNvSpPr txBox="1"/>
          <p:nvPr/>
        </p:nvSpPr>
        <p:spPr>
          <a:xfrm>
            <a:off x="9409176" y="5321808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工芸のことば</a:t>
            </a:r>
            <a:endParaRPr lang="en-US" sz="950" dirty="0"/>
          </a:p>
        </p:txBody>
      </p:sp>
      <p:sp>
        <p:nvSpPr>
          <p:cNvPr id="25" name="Text 18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 100 点超を制作済み。全点は添付のポートフォリオサイトでご覧いただけます。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もう一つの意匠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フジキンの名は、富士に由来する。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0574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社名の由来がそのまま意匠になります。水にくわえて富士を据えると、五つの棚すべてが一本の筋でつながります。浮世絵の遠景に、金屏風の右隻に、青海波を抜いた白地に、絹の中央に、そして 40 周年の記章に。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926080"/>
            <a:ext cx="5623560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6" name="Image 0" descr="D:/Fuji_Famous/Fujie_Creative/deck_assets/19_fujisan/wa/wa_fuji_ukiyo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9384" y="3017520"/>
            <a:ext cx="3796393" cy="28346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537960" y="2926080"/>
            <a:ext cx="2331720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8" name="Image 1" descr="D:/Fuji_Famous/Fujie_Creative/deck_assets/19_fujisan/badge_40_fuji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9188" y="2990088"/>
            <a:ext cx="969264" cy="9692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592824" y="3995928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 周年の記章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9052560" y="2926080"/>
            <a:ext cx="2331720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1" name="Image 2" descr="D:/Fuji_Famous/Fujie_Creative/deck_assets/19_fujisan/chibi/chibi_fuji_gacha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9359" y="2990088"/>
            <a:ext cx="1298121" cy="96926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107424" y="3995928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ちびフジィ ガチャ</a:t>
            </a:r>
            <a:endParaRPr lang="en-US" sz="900" dirty="0"/>
          </a:p>
        </p:txBody>
      </p:sp>
      <p:sp>
        <p:nvSpPr>
          <p:cNvPr id="13" name="Shape 8"/>
          <p:cNvSpPr/>
          <p:nvPr/>
        </p:nvSpPr>
        <p:spPr>
          <a:xfrm>
            <a:off x="6537960" y="4498848"/>
            <a:ext cx="2331720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4" name="Image 3" descr="D:/Fuji_Famous/Fujie_Creative/deck_assets/19_fujisan/maison/maison_fuji_scarf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9188" y="4562856"/>
            <a:ext cx="969264" cy="96926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592824" y="5568696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Maison スカーフ</a:t>
            </a:r>
            <a:endParaRPr lang="en-US" sz="900" dirty="0"/>
          </a:p>
        </p:txBody>
      </p:sp>
      <p:sp>
        <p:nvSpPr>
          <p:cNvPr id="16" name="Shape 10"/>
          <p:cNvSpPr/>
          <p:nvPr/>
        </p:nvSpPr>
        <p:spPr>
          <a:xfrm>
            <a:off x="9052560" y="4498848"/>
            <a:ext cx="2331720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7" name="Image 4" descr="D:/Fuji_Famous/Fujie_Creative/deck_assets/19_fujisan/wamon/wamon_fuji_furoshiki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33788" y="4562856"/>
            <a:ext cx="969264" cy="969264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9107424" y="5568696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青海波 風呂敷</a:t>
            </a:r>
            <a:endParaRPr lang="en-US" sz="900" dirty="0"/>
          </a:p>
        </p:txBody>
      </p:sp>
      <p:sp>
        <p:nvSpPr>
          <p:cNvPr id="19" name="Text 12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富士は公式原画の隣に置く意匠であり、原画そのものには重ねていません。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文様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この魚のために、文様を 18 種描いた。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0574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日本の文様は意味で選ばれてきました。青海波は海、鱗は魚の鱗、立涌はのぼる流れ、麻の葉は育つこと。そこへこの魚の要素を描き足しています —— 亀甲の節にはバルブのハンドル、矢絣は逆流、小紋の粒はキャビア。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926080"/>
            <a:ext cx="5074920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6" name="Image 0" descr="D:/Fuji_Famous/Fujie_Creative/deck_assets/11_wamon/wamon_collection_boar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9571" y="3017520"/>
            <a:ext cx="2987378" cy="28346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989320" y="2926080"/>
            <a:ext cx="1709928" cy="3017520"/>
          </a:xfrm>
          <a:prstGeom prst="roundRect">
            <a:avLst>
              <a:gd name="adj" fmla="val 3209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8" name="Image 1" descr="D:/Fuji_Famous/Fujie_Creative/deck_assets/13_merch_wamon/wamon_sensu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2472" y="3622487"/>
            <a:ext cx="1563624" cy="116750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025896" y="5468112"/>
            <a:ext cx="1636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扇子</a:t>
            </a:r>
            <a:endParaRPr lang="en-US" sz="850" dirty="0"/>
          </a:p>
        </p:txBody>
      </p:sp>
      <p:sp>
        <p:nvSpPr>
          <p:cNvPr id="10" name="Shape 6"/>
          <p:cNvSpPr/>
          <p:nvPr/>
        </p:nvSpPr>
        <p:spPr>
          <a:xfrm>
            <a:off x="7836408" y="2926080"/>
            <a:ext cx="1709928" cy="3017520"/>
          </a:xfrm>
          <a:prstGeom prst="roundRect">
            <a:avLst>
              <a:gd name="adj" fmla="val 3209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1" name="Image 2" descr="D:/Fuji_Famous/Fujie_Creative/deck_assets/19_fujisan/wa_official/wao_fuji_byobu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9560" y="3769880"/>
            <a:ext cx="1563624" cy="8727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872984" y="5468112"/>
            <a:ext cx="1636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金屏風 ／ 公式原画</a:t>
            </a:r>
            <a:endParaRPr lang="en-US" sz="850" dirty="0"/>
          </a:p>
        </p:txBody>
      </p:sp>
      <p:sp>
        <p:nvSpPr>
          <p:cNvPr id="13" name="Shape 8"/>
          <p:cNvSpPr/>
          <p:nvPr/>
        </p:nvSpPr>
        <p:spPr>
          <a:xfrm>
            <a:off x="9683496" y="2926080"/>
            <a:ext cx="1709928" cy="3017520"/>
          </a:xfrm>
          <a:prstGeom prst="roundRect">
            <a:avLst>
              <a:gd name="adj" fmla="val 3209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4" name="Image 3" descr="D:/Fuji_Famous/Fujie_Creative/deck_assets/19_fujisan/official/official_fuji_glass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6648" y="3622487"/>
            <a:ext cx="1563624" cy="116750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720072" y="5468112"/>
            <a:ext cx="1636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クリスタル ／ 公式原画</a:t>
            </a:r>
            <a:endParaRPr lang="en-US" sz="850" dirty="0"/>
          </a:p>
        </p:txBody>
      </p:sp>
      <p:sp>
        <p:nvSpPr>
          <p:cNvPr id="16" name="Text 10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同じ版を風呂敷・手ぬぐい・扇子・包装紙・化粧箱へ展開しています。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6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本エントリーの添付資料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00584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「フジィを育てよう」</a:t>
            </a:r>
            <a:endParaRPr lang="en-US" sz="32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―― 実際に遊べる育成シミュレーターを制作しました。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249424"/>
            <a:ext cx="10789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2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ごはん・あそぶ・ねむる・水流（バルブ開度）の四つの世話で、一粒の卵から成魚まで育てます。</a:t>
            </a:r>
            <a:endParaRPr lang="en-US" sz="12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2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あそぶはミニゲーム四種。フジィの表情が空腹や眠気を伝えます。所要 90 秒。スマートフォンでもそのまま開けます。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85800" y="2971800"/>
            <a:ext cx="2011680" cy="2286000"/>
          </a:xfrm>
          <a:prstGeom prst="roundRect">
            <a:avLst>
              <a:gd name="adj" fmla="val 2727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pic>
        <p:nvPicPr>
          <p:cNvPr id="6" name="Image 0" descr="D:/Fuji_Famous/Fujie_Creative/deck_assets/04_campaign/stage_1_eg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3154680"/>
            <a:ext cx="1188720" cy="11887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44348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1987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4800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一粒の卵から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2898648" y="2971800"/>
            <a:ext cx="2011680" cy="2286000"/>
          </a:xfrm>
          <a:prstGeom prst="roundRect">
            <a:avLst>
              <a:gd name="adj" fmla="val 2727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pic>
        <p:nvPicPr>
          <p:cNvPr id="10" name="Image 1" descr="D:/Fuji_Famous/Fujie_Creative/deck_assets/04_campaign/stage_2_larv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2968" y="3269372"/>
            <a:ext cx="1463040" cy="9593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081528" y="44348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1992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2990088" y="4800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生残率 5%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5111496" y="2971800"/>
            <a:ext cx="2011680" cy="2286000"/>
          </a:xfrm>
          <a:prstGeom prst="roundRect">
            <a:avLst>
              <a:gd name="adj" fmla="val 2727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pic>
        <p:nvPicPr>
          <p:cNvPr id="14" name="Image 2" descr="D:/Fuji_Famous/Fujie_Creative/deck_assets/04_campaign/stage_3_fr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2386" y="3154680"/>
            <a:ext cx="1149899" cy="11887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294376" y="44348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1998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5202936" y="4800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世界初の完全養殖</a:t>
            </a:r>
            <a:endParaRPr 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7324344" y="2971800"/>
            <a:ext cx="2011680" cy="2286000"/>
          </a:xfrm>
          <a:prstGeom prst="roundRect">
            <a:avLst>
              <a:gd name="adj" fmla="val 2727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pic>
        <p:nvPicPr>
          <p:cNvPr id="18" name="Image 3" descr="D:/Fuji_Famous/Fujie_Creative/deck_assets/04_campaign/stage_4_you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8664" y="3442614"/>
            <a:ext cx="1463040" cy="612851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507224" y="44348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2002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7415784" y="4800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日本初のキャビア</a:t>
            </a:r>
            <a:endParaRPr lang="en-US" sz="950" dirty="0"/>
          </a:p>
        </p:txBody>
      </p:sp>
      <p:sp>
        <p:nvSpPr>
          <p:cNvPr id="21" name="Shape 15"/>
          <p:cNvSpPr/>
          <p:nvPr/>
        </p:nvSpPr>
        <p:spPr>
          <a:xfrm>
            <a:off x="9537192" y="2971800"/>
            <a:ext cx="2011680" cy="2286000"/>
          </a:xfrm>
          <a:prstGeom prst="roundRect">
            <a:avLst>
              <a:gd name="adj" fmla="val 2727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pic>
        <p:nvPicPr>
          <p:cNvPr id="22" name="Image 4" descr="D:/Fuji_Famous/Fujie_Creative/deck_assets/04_campaign/fujie-officia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11512" y="3526841"/>
            <a:ext cx="1463040" cy="444398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720072" y="44348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2027</a:t>
            </a:r>
            <a:endParaRPr lang="en-US" sz="1600" dirty="0"/>
          </a:p>
        </p:txBody>
      </p:sp>
      <p:sp>
        <p:nvSpPr>
          <p:cNvPr id="24" name="Text 17"/>
          <p:cNvSpPr txBox="1"/>
          <p:nvPr/>
        </p:nvSpPr>
        <p:spPr>
          <a:xfrm>
            <a:off x="9628632" y="4800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そして、40年目へ</a:t>
            </a:r>
            <a:endParaRPr lang="en-US" sz="950" dirty="0"/>
          </a:p>
        </p:txBody>
      </p:sp>
      <p:sp>
        <p:nvSpPr>
          <p:cNvPr id="25" name="Shape 18"/>
          <p:cNvSpPr/>
          <p:nvPr/>
        </p:nvSpPr>
        <p:spPr>
          <a:xfrm>
            <a:off x="685800" y="5440680"/>
            <a:ext cx="10789920" cy="566928"/>
          </a:xfrm>
          <a:prstGeom prst="roundRect">
            <a:avLst>
              <a:gd name="adj" fmla="val 12903"/>
            </a:avLst>
          </a:prstGeom>
          <a:solidFill>
            <a:srgbClr val="12323F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1051560" y="555955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いますぐ開けます　</a:t>
            </a:r>
            <a:pPr indent="0" marL="0">
              <a:buNone/>
            </a:pPr>
            <a:r>
              <a:rPr lang="en-US" sz="1350" b="1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https://don-bp.github.io/fuji_famous/</a:t>
            </a:r>
            <a:pPr indent="0" marL="0"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／　添付：フジィを育てよう.html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進め方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2027 年は、40 年目です。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78308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1987 年の一言から 40 年、2002 年の初出荷から 25 年。2027 年はその両方が重なる年です。結果発表は 2026 年 12 月 —— 2027 年度の計画に、そのまま乗せられます。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606040"/>
            <a:ext cx="2560320" cy="292608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25400">
            <a:solidFill>
              <a:srgbClr val="00A0E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27614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2027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2103120" y="2944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春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325526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挑戦から 40 年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361188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ちびフジィ確定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マニュアル ver2.0 策定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LINE スタンプ 128 種公開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960120" y="480060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ふ化の季節に合わせ、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フジィの誕生日を定める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960120" y="5230368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想定コスト：低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456432" y="2606040"/>
            <a:ext cx="2560320" cy="292608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730752" y="27614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2027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4873752" y="2944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3730752" y="325526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初出荷から 25 年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730752" y="361188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SNS 運用開始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養魚場の映像を蓄積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取引先への無償開放を案内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3730752" y="480060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 周年の国産キャビアとして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地域・行政に持ち込める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3730752" y="5230368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想定コスト：低〜中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27064" y="2606040"/>
            <a:ext cx="2560320" cy="292608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01384" y="27614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2028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7644384" y="2944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501384" y="325526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完全養殖から 30 年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501384" y="361188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里美養魚場の限定公開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茨城県との連携協議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ぬいぐるみ等グッズ化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501384" y="480060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「会いに行けるマスコット」の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開始年として節目が立つ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6501384" y="5230368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想定コスト：中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997696" y="2606040"/>
            <a:ext cx="2560320" cy="292608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72016" y="27614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2030</a:t>
            </a:r>
            <a:endParaRPr lang="en-US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10415016" y="2944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9272016" y="325526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創業 100 周年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9272016" y="361188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ドキュメンタリー公開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採用広報への本格転用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9272016" y="480060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フジィ自身も 5 歳。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 周年の顔になる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9272016" y="5230368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想定コスト：中〜高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85800" y="5715000"/>
            <a:ext cx="10789920" cy="603504"/>
          </a:xfrm>
          <a:prstGeom prst="roundRect">
            <a:avLst>
              <a:gd name="adj" fmla="val 9091"/>
            </a:avLst>
          </a:prstGeom>
          <a:solidFill>
            <a:srgbClr val="0B2430"/>
          </a:solidFill>
          <a:ln w="12700">
            <a:solidFill>
              <a:srgbClr val="0B243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97280" y="5870448"/>
            <a:ext cx="9966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創業 100 周年を、フジィが有名になった状態で迎える。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期待される効果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一度つくれば、翌年の土台になる。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22199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221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52728" y="216712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「覚えられる会社」から「語られる会社」へ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1252728" y="255117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「バルブの会社が日本のキャビアをつくった」は、聞いた人が翌日 誰かに話したくなる強度を持っています。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17920" y="222199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0" y="2221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784848" y="216712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一般層への継続的な到達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784848" y="255117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LINE スタンプは送信されるかぎり露出が続きます。一度の制作費で、最も信頼された場所に繰り返し現れます。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85800" y="352044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252728" y="3465576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取引先を通じた面の拡大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1252728" y="3849624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フジキンが直接リーチできない一般消費者の食卓に、フジィが届きます。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17920" y="352044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784848" y="3465576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採用広報への波及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784848" y="3849624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生残率 5% から世界初に至った 11 年間は、学生がもっとも反応する種類の物語です。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85800" y="4818888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4818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252728" y="4764024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地域・行政との連携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1252728" y="514807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茨城県の産地化政策と目的が一致し、無償の拡散チャネルになります。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17920" y="4818888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17920" y="4818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784848" y="4764024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資産が積み上がる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6784848" y="514807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キャラクター・スタンプ・映像・公開体制。いずれも残り、時間とともに価値が増します。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6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Fuji_Famous/Fujie_Creative/deck_assets/04_campaign/fujie-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70390" y="1417320"/>
            <a:ext cx="6020741" cy="1828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361188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このフジィは、実在します。</a:t>
            </a:r>
            <a:endParaRPr lang="en-US" sz="42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4572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800"/>
              </a:lnSpc>
              <a:buNone/>
            </a:pPr>
            <a:r>
              <a:rPr lang="en-US" sz="14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フジキンが 40 年かけて育ててきた魚を、</a:t>
            </a:r>
            <a:endParaRPr lang="en-US" sz="1450" dirty="0"/>
          </a:p>
          <a:p>
            <a:pPr algn="ctr" indent="0" marL="0">
              <a:lnSpc>
                <a:spcPts val="2800"/>
              </a:lnSpc>
              <a:buNone/>
            </a:pPr>
            <a:r>
              <a:rPr lang="en-US" sz="14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日本中が知っている名前にしたいと考えています。</a:t>
            </a:r>
            <a:endParaRPr lang="en-US" sz="145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541324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2027 年、40 年目。　創業 100 周年を、フジィが有名になった状態で迎える。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株式会社ブレインパワー　大阪　／　Vittorio Zumpano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2026-09-16T07:43:48Z</dcterms:created>
  <dcterms:modified xsi:type="dcterms:W3CDTF">2026-09-16T07:43:48Z</dcterms:modified>
</cp:coreProperties>
</file>